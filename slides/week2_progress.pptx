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problem block, it carries the slide. A citance is a sentence in one paper that cites another. Citation integrity asks whether that sentence represents the cited work accurately. The part that makes it an NLP problem rather than a judgement call is that the verdict has to rest on specific sentences inside the cited article — you cannot answer it from the abstract or the title.</a:t>
            </a:r>
          </a:p>
          <a:p/>
          <a:p>
            <a:r>
              <a:t>The three numbers on the right are the scale of it. Averaged over the 487 test citances, a citance has 239 candidate sentences drawn from the article it cites, the annotators marked about 2.5 of them as the evidence, and the classifier only ever sees the twenty that retrieval hands it. So retrieval is a hard filter on everything downstream, which is why we went after it first.</a:t>
            </a:r>
          </a:p>
          <a:p/>
          <a:p>
            <a:r>
              <a:t>The pipeline is three stages and it is the same three stages in both arms: retrieve, rerank, classify. Stage 1 narrows 239 candidate sentences to 60 with BM25. Stage 2 reorders those 60 and keeps the top 20. Stage 3 reads those 20 and emits one of the three labels.</a:t>
            </a:r>
          </a:p>
          <a:p/>
          <a:p>
            <a:r>
              <a:t>Prior work is Sarol et al. 2024 in Bioinformatics — the blue row. BM25, then MonoT5-base applied zero-shot, then MultiVerS, a Longformer-large model fine-tuned for the three-way label. We reproduced their published retrieval numbers before touching anything: 0.529 Recall@20 against their 0.53, 0.323 MRR against their 0.32.</a:t>
            </a:r>
          </a:p>
          <a:p/>
          <a:p>
            <a:r>
              <a:t>Our method is the orange row, and the point of the shaded column is that only stage 2 differs. Same citances, same candidate pool, same BM25 settings and depth 60, same metric code, same frozen MultiVerS checkpoint. The reranker becomes a PubMedBERT cross-encoder, fine-tuned on this task's own training articles, scoring each candidate sentence together with one neighbour on each side rather than alone.</a:t>
            </a:r>
          </a:p>
          <a:p/>
          <a:p>
            <a:r>
              <a:t>Two differentiations worth naming out loud. Supervision: their reranker is a general-domain model transferred zero-shot, ours is trained in domain. And the unit being scored: a lone sentence versus a sentence in context — biomedical evidence sentences frequently need the sentence before them for the referent. Both are also cheaper, not more expensive: 109.5M parameters against 222.9M.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the right-hand box first, because it is chronologically first and it explains why we worked on the reranker at all.</a:t>
            </a:r>
          </a:p>
          <a:p/>
          <a:p>
            <a:r>
              <a:t>The obvious suspect was the cheap filter. BM25 keeps only 60 of a citance's 239 candidate sentences before anything smart looks at them, and that cut really does throw away 29% of the annotated evidence — BM25's own recall at depth 60 is 0.712, so no reranker working behind it can exceed that. So we removed the filter and let MonoT5 score all 239.</a:t>
            </a:r>
          </a:p>
          <a:p/>
          <a:p>
            <a:r>
              <a:t>It bought nothing. Recall@20 went 0.529 to 0.541, a paired delta of +0.012 whose interval includes zero, winning on only 10 of 20 articles — a coin flip — and AllGold@20 and MRR both came out flat or slightly negative, all at four times the candidates scored. So the evidence the filter discards is evidence MonoT5 would not have ranked highly anyway. The limit was the reranker, not the filter. That is what sent us to stage 2.</a:t>
            </a:r>
          </a:p>
          <a:p/>
          <a:p>
            <a:r>
              <a:t>Now the left table, which is the main result. Held-out test Recall@20 goes 0.529 to 0.638, a paired gain of +0.109 plus or minus 0.024, winning on 17 of the 20 test articles. All four metrics move and no interval touches zero. The test split was measured exactly once, after the recipe was frozen on dev.</a:t>
            </a:r>
          </a:p>
          <a:p/>
          <a:p>
            <a:r>
              <a:t>Read the pattern across the metrics, not just the headline. Recall@20 and AllGold@20 both move about ten points; MRR moves four and wins on only 13 of 20 articles. We capture more evidence and more often capture all of it, but we are only slightly better at putting a correct sentence first. That matches the change we made: the context window helps recognise relevance and slightly hurts top-1 precision. For this pipeline that trade is fine, because the classifier receives the top-20 as a set and does not care about the order.</a:t>
            </a:r>
          </a:p>
          <a:p/>
          <a:p>
            <a:r>
              <a:t>Cost: 109.5M parameters against 222.9M and 2.2x the throughput, but as configured we use 1.36x the FLOPs. Both numbers are real. We run faster despite more arithmetic because there is no serial decoder step.</a:t>
            </a:r>
          </a:p>
          <a:p/>
          <a:p>
            <a:r>
              <a:t>The navy line is the finding that caps the slide. Under the released MultiVerS checkpoint the better evidence changes no label — both arms tie at McNemar p = 1.000 — and an oracle with perfect evidence is the worst arm of all. Random evidence does cost 19 to 25 points at p &lt; 0.001, so the classifier is reading its input; it simply cannot exploit anything above the retrieval distribution it was trained on.</a:t>
            </a:r>
          </a:p>
          <a:p/>
          <a:p>
            <a:r>
              <a:t>Which makes the first remaining item the decisive one. The paper's own gold-evidence row is +0.23 macro-F1 over its top-20 row, but their gold-evidence model was trained on gold evidence. Retraining the classifier on each arm's output is the experiment that decides whether our retrieval gain is worth anything downstream. It needs the CUDA machine: Longformer-large, likely with gradient checkpointing at 8 GB.</a:t>
            </a:r>
          </a:p>
          <a:p/>
          <a:p>
            <a:r>
              <a:t>The other three are smaller. A quarter of reranker inputs truncate at 192 tokens, so the length sweep has headroom — and our 0.638 is now within 0.074 of BM25's depth-60 ceiling of 0.712, so the filter depth is becoming a live constraint for us even though it was not one for MonoT5. Dynamic padding should cut the FLOPs overhead from 1.36x to 1.06x at no measured speed cost. And both arms must be rerun inside one session for the final table: numbers taken on different dates drifted by 0.012 on dev, which we traced to the environment rather than to our code.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12800" y="609600"/>
            <a:ext cx="10566400" cy="190500"/>
          </a:xfrm>
          <a:prstGeom prst="rect">
            <a:avLst/>
          </a:prstGeom>
          <a:noFill/>
        </p:spPr>
        <p:txBody>
          <a:bodyPr wrap="square" anchor="t" lIns="0" rIns="0" tIns="0" bIns="0">
            <a:spAutoFit/>
          </a:bodyPr>
          <a:lstStyle/>
          <a:p>
            <a:pPr algn="l">
              <a:lnSpc>
                <a:spcPct val="120000"/>
              </a:lnSpc>
            </a:pPr>
            <a:r>
              <a:rPr sz="1200" b="1" i="0" spc="150">
                <a:solidFill>
                  <a:srgbClr val="B4530A"/>
                </a:solidFill>
                <a:latin typeface="Helvetica Neue"/>
              </a:rPr>
              <a:t>CITEAUDIT · SAROL ET AL., BIOINFORMATICS 40(7) 2024 · REPRODUCTION AND EXTENSION</a:t>
            </a:r>
          </a:p>
        </p:txBody>
      </p:sp>
      <p:sp>
        <p:nvSpPr>
          <p:cNvPr id="4" name="TextBox 3"/>
          <p:cNvSpPr txBox="1"/>
          <p:nvPr/>
        </p:nvSpPr>
        <p:spPr>
          <a:xfrm>
            <a:off x="812800" y="850900"/>
            <a:ext cx="10566400" cy="419100"/>
          </a:xfrm>
          <a:prstGeom prst="rect">
            <a:avLst/>
          </a:prstGeom>
          <a:noFill/>
        </p:spPr>
        <p:txBody>
          <a:bodyPr wrap="square" anchor="t" lIns="0" rIns="0" tIns="0" bIns="0">
            <a:spAutoFit/>
          </a:bodyPr>
          <a:lstStyle/>
          <a:p>
            <a:pPr algn="l">
              <a:lnSpc>
                <a:spcPct val="108000"/>
              </a:lnSpc>
            </a:pPr>
            <a:r>
              <a:rPr sz="3000" b="1" i="0">
                <a:solidFill>
                  <a:srgbClr val="14213D"/>
                </a:solidFill>
                <a:latin typeface="Georgia"/>
              </a:rPr>
              <a:t>Does this citation say what the source actually said?</a:t>
            </a:r>
          </a:p>
        </p:txBody>
      </p:sp>
      <p:sp>
        <p:nvSpPr>
          <p:cNvPr id="5" name="Rectangle 4"/>
          <p:cNvSpPr/>
          <p:nvPr/>
        </p:nvSpPr>
        <p:spPr>
          <a:xfrm>
            <a:off x="812800" y="1473200"/>
            <a:ext cx="10566400" cy="1841500"/>
          </a:xfrm>
          <a:prstGeom prst="rect">
            <a:avLst/>
          </a:prstGeom>
          <a:solidFill>
            <a:srgbClr val="F1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12800" y="1473200"/>
            <a:ext cx="31750" cy="1841500"/>
          </a:xfrm>
          <a:prstGeom prst="rect">
            <a:avLst/>
          </a:prstGeom>
          <a:solidFill>
            <a:srgbClr val="B453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47750" y="1625600"/>
            <a:ext cx="6076950" cy="1536700"/>
          </a:xfrm>
          <a:prstGeom prst="rect">
            <a:avLst/>
          </a:prstGeom>
          <a:noFill/>
        </p:spPr>
        <p:txBody>
          <a:bodyPr wrap="square" anchor="t" lIns="0" rIns="0" tIns="0" bIns="0">
            <a:spAutoFit/>
          </a:bodyPr>
          <a:lstStyle/>
          <a:p>
            <a:pPr algn="l">
              <a:lnSpc>
                <a:spcPct val="120000"/>
              </a:lnSpc>
            </a:pPr>
            <a:r>
              <a:rPr sz="1200" b="1" i="0" spc="50">
                <a:solidFill>
                  <a:srgbClr val="B4530A"/>
                </a:solidFill>
                <a:latin typeface="Helvetica Neue"/>
              </a:rPr>
              <a:t>THE PROBLEM</a:t>
            </a:r>
          </a:p>
          <a:p>
            <a:pPr algn="l">
              <a:lnSpc>
                <a:spcPct val="140000"/>
              </a:lnSpc>
              <a:spcBef>
                <a:spcPts val="500"/>
              </a:spcBef>
            </a:pPr>
            <a:r>
              <a:rPr sz="1400" b="0" i="0">
                <a:solidFill>
                  <a:srgbClr val="14213D"/>
                </a:solidFill>
                <a:latin typeface="Helvetica Neue"/>
              </a:rPr>
              <a:t>A </a:t>
            </a:r>
            <a:r>
              <a:rPr sz="1400" b="0" i="1">
                <a:solidFill>
                  <a:srgbClr val="14213D"/>
                </a:solidFill>
                <a:latin typeface="Helvetica Neue"/>
              </a:rPr>
              <a:t>citance</a:t>
            </a:r>
            <a:r>
              <a:rPr sz="1400" b="0" i="0">
                <a:solidFill>
                  <a:srgbClr val="14213D"/>
                </a:solidFill>
                <a:latin typeface="Helvetica Neue"/>
              </a:rPr>
              <a:t> is a sentence in one paper that cites another. Citation integrity asks whether it represents the cited work accurately — and the verdict has to rest on specific sentences inside the cited article, not on the article as a whole. The label is one of three: </a:t>
            </a:r>
            <a:r>
              <a:rPr sz="1400" b="1" i="0">
                <a:solidFill>
                  <a:srgbClr val="14213D"/>
                </a:solidFill>
                <a:latin typeface="Helvetica Neue"/>
              </a:rPr>
              <a:t>ACCURATE</a:t>
            </a:r>
            <a:r>
              <a:rPr sz="1400" b="0" i="0">
                <a:solidFill>
                  <a:srgbClr val="14213D"/>
                </a:solidFill>
                <a:latin typeface="Helvetica Neue"/>
              </a:rPr>
              <a:t>, </a:t>
            </a:r>
            <a:r>
              <a:rPr sz="1400" b="1" i="0">
                <a:solidFill>
                  <a:srgbClr val="14213D"/>
                </a:solidFill>
                <a:latin typeface="Helvetica Neue"/>
              </a:rPr>
              <a:t>NOT ACCURATE</a:t>
            </a:r>
            <a:r>
              <a:rPr sz="1400" b="0" i="0">
                <a:solidFill>
                  <a:srgbClr val="14213D"/>
                </a:solidFill>
                <a:latin typeface="Helvetica Neue"/>
              </a:rPr>
              <a:t>, or </a:t>
            </a:r>
            <a:r>
              <a:rPr sz="1400" b="1" i="0">
                <a:solidFill>
                  <a:srgbClr val="14213D"/>
                </a:solidFill>
                <a:latin typeface="Helvetica Neue"/>
              </a:rPr>
              <a:t>NOT ENOUGH INFO</a:t>
            </a:r>
            <a:r>
              <a:rPr sz="1400" b="0" i="0">
                <a:solidFill>
                  <a:srgbClr val="14213D"/>
                </a:solidFill>
                <a:latin typeface="Helvetica Neue"/>
              </a:rPr>
              <a:t>.</a:t>
            </a:r>
          </a:p>
        </p:txBody>
      </p:sp>
      <p:sp>
        <p:nvSpPr>
          <p:cNvPr id="8" name="TextBox 7"/>
          <p:cNvSpPr txBox="1"/>
          <p:nvPr/>
        </p:nvSpPr>
        <p:spPr>
          <a:xfrm>
            <a:off x="7378700" y="1625600"/>
            <a:ext cx="3797300" cy="190500"/>
          </a:xfrm>
          <a:prstGeom prst="rect">
            <a:avLst/>
          </a:prstGeom>
          <a:noFill/>
        </p:spPr>
        <p:txBody>
          <a:bodyPr wrap="square" anchor="t" lIns="0" rIns="0" tIns="0" bIns="0">
            <a:spAutoFit/>
          </a:bodyPr>
          <a:lstStyle/>
          <a:p>
            <a:pPr algn="l">
              <a:lnSpc>
                <a:spcPct val="120000"/>
              </a:lnSpc>
            </a:pPr>
            <a:r>
              <a:rPr sz="1200" b="1" i="0" spc="50">
                <a:solidFill>
                  <a:srgbClr val="6A7179"/>
                </a:solidFill>
                <a:latin typeface="Helvetica Neue"/>
              </a:rPr>
              <a:t>WHY IT IS HARD</a:t>
            </a:r>
          </a:p>
        </p:txBody>
      </p:sp>
      <p:sp>
        <p:nvSpPr>
          <p:cNvPr id="9" name="TextBox 8"/>
          <p:cNvSpPr txBox="1"/>
          <p:nvPr/>
        </p:nvSpPr>
        <p:spPr>
          <a:xfrm>
            <a:off x="7378700" y="1879600"/>
            <a:ext cx="698500" cy="330200"/>
          </a:xfrm>
          <a:prstGeom prst="rect">
            <a:avLst/>
          </a:prstGeom>
          <a:noFill/>
        </p:spPr>
        <p:txBody>
          <a:bodyPr wrap="square" anchor="ctr" lIns="0" rIns="0" tIns="0" bIns="0">
            <a:spAutoFit/>
          </a:bodyPr>
          <a:lstStyle/>
          <a:p>
            <a:pPr algn="l">
              <a:lnSpc>
                <a:spcPct val="130000"/>
              </a:lnSpc>
            </a:pPr>
            <a:r>
              <a:rPr sz="2100" b="1" i="0">
                <a:solidFill>
                  <a:srgbClr val="14213D"/>
                </a:solidFill>
                <a:latin typeface="Georgia"/>
              </a:rPr>
              <a:t>239</a:t>
            </a:r>
          </a:p>
        </p:txBody>
      </p:sp>
      <p:sp>
        <p:nvSpPr>
          <p:cNvPr id="10" name="TextBox 9"/>
          <p:cNvSpPr txBox="1"/>
          <p:nvPr/>
        </p:nvSpPr>
        <p:spPr>
          <a:xfrm>
            <a:off x="8178800" y="1879600"/>
            <a:ext cx="2997200" cy="330200"/>
          </a:xfrm>
          <a:prstGeom prst="rect">
            <a:avLst/>
          </a:prstGeom>
          <a:noFill/>
        </p:spPr>
        <p:txBody>
          <a:bodyPr wrap="square" anchor="ctr" lIns="0" rIns="0" tIns="0" bIns="0">
            <a:spAutoFit/>
          </a:bodyPr>
          <a:lstStyle/>
          <a:p>
            <a:pPr algn="l">
              <a:lnSpc>
                <a:spcPct val="130000"/>
              </a:lnSpc>
            </a:pPr>
            <a:r>
              <a:rPr sz="1200" b="0" i="0">
                <a:solidFill>
                  <a:srgbClr val="4A5568"/>
                </a:solidFill>
                <a:latin typeface="Helvetica Neue"/>
              </a:rPr>
              <a:t>candidate sentences per citance</a:t>
            </a:r>
          </a:p>
        </p:txBody>
      </p:sp>
      <p:sp>
        <p:nvSpPr>
          <p:cNvPr id="11" name="TextBox 10"/>
          <p:cNvSpPr txBox="1"/>
          <p:nvPr/>
        </p:nvSpPr>
        <p:spPr>
          <a:xfrm>
            <a:off x="7378700" y="2209800"/>
            <a:ext cx="698500" cy="330200"/>
          </a:xfrm>
          <a:prstGeom prst="rect">
            <a:avLst/>
          </a:prstGeom>
          <a:noFill/>
        </p:spPr>
        <p:txBody>
          <a:bodyPr wrap="square" anchor="ctr" lIns="0" rIns="0" tIns="0" bIns="0">
            <a:spAutoFit/>
          </a:bodyPr>
          <a:lstStyle/>
          <a:p>
            <a:pPr algn="l">
              <a:lnSpc>
                <a:spcPct val="130000"/>
              </a:lnSpc>
            </a:pPr>
            <a:r>
              <a:rPr sz="2100" b="1" i="0">
                <a:solidFill>
                  <a:srgbClr val="14213D"/>
                </a:solidFill>
                <a:latin typeface="Georgia"/>
              </a:rPr>
              <a:t>2.5</a:t>
            </a:r>
          </a:p>
        </p:txBody>
      </p:sp>
      <p:sp>
        <p:nvSpPr>
          <p:cNvPr id="12" name="TextBox 11"/>
          <p:cNvSpPr txBox="1"/>
          <p:nvPr/>
        </p:nvSpPr>
        <p:spPr>
          <a:xfrm>
            <a:off x="8178800" y="2209800"/>
            <a:ext cx="2997200" cy="330200"/>
          </a:xfrm>
          <a:prstGeom prst="rect">
            <a:avLst/>
          </a:prstGeom>
          <a:noFill/>
        </p:spPr>
        <p:txBody>
          <a:bodyPr wrap="square" anchor="ctr" lIns="0" rIns="0" tIns="0" bIns="0">
            <a:spAutoFit/>
          </a:bodyPr>
          <a:lstStyle/>
          <a:p>
            <a:pPr algn="l">
              <a:lnSpc>
                <a:spcPct val="130000"/>
              </a:lnSpc>
            </a:pPr>
            <a:r>
              <a:rPr sz="1200" b="0" i="0">
                <a:solidFill>
                  <a:srgbClr val="4A5568"/>
                </a:solidFill>
                <a:latin typeface="Helvetica Neue"/>
              </a:rPr>
              <a:t>of them marked as the evidence</a:t>
            </a:r>
          </a:p>
        </p:txBody>
      </p:sp>
      <p:sp>
        <p:nvSpPr>
          <p:cNvPr id="13" name="TextBox 12"/>
          <p:cNvSpPr txBox="1"/>
          <p:nvPr/>
        </p:nvSpPr>
        <p:spPr>
          <a:xfrm>
            <a:off x="7378700" y="2540000"/>
            <a:ext cx="698500" cy="330200"/>
          </a:xfrm>
          <a:prstGeom prst="rect">
            <a:avLst/>
          </a:prstGeom>
          <a:noFill/>
        </p:spPr>
        <p:txBody>
          <a:bodyPr wrap="square" anchor="ctr" lIns="0" rIns="0" tIns="0" bIns="0">
            <a:spAutoFit/>
          </a:bodyPr>
          <a:lstStyle/>
          <a:p>
            <a:pPr algn="l">
              <a:lnSpc>
                <a:spcPct val="130000"/>
              </a:lnSpc>
            </a:pPr>
            <a:r>
              <a:rPr sz="2100" b="1" i="0">
                <a:solidFill>
                  <a:srgbClr val="14213D"/>
                </a:solidFill>
                <a:latin typeface="Georgia"/>
              </a:rPr>
              <a:t>20</a:t>
            </a:r>
          </a:p>
        </p:txBody>
      </p:sp>
      <p:sp>
        <p:nvSpPr>
          <p:cNvPr id="14" name="TextBox 13"/>
          <p:cNvSpPr txBox="1"/>
          <p:nvPr/>
        </p:nvSpPr>
        <p:spPr>
          <a:xfrm>
            <a:off x="8178800" y="2540000"/>
            <a:ext cx="2997200" cy="330200"/>
          </a:xfrm>
          <a:prstGeom prst="rect">
            <a:avLst/>
          </a:prstGeom>
          <a:noFill/>
        </p:spPr>
        <p:txBody>
          <a:bodyPr wrap="square" anchor="ctr" lIns="0" rIns="0" tIns="0" bIns="0">
            <a:spAutoFit/>
          </a:bodyPr>
          <a:lstStyle/>
          <a:p>
            <a:pPr algn="l">
              <a:lnSpc>
                <a:spcPct val="130000"/>
              </a:lnSpc>
            </a:pPr>
            <a:r>
              <a:rPr sz="1200" b="0" i="0">
                <a:solidFill>
                  <a:srgbClr val="4A5568"/>
                </a:solidFill>
                <a:latin typeface="Helvetica Neue"/>
              </a:rPr>
              <a:t>the classifier ever gets to see</a:t>
            </a:r>
          </a:p>
        </p:txBody>
      </p:sp>
      <p:sp>
        <p:nvSpPr>
          <p:cNvPr id="15" name="Rectangle 14"/>
          <p:cNvSpPr/>
          <p:nvPr/>
        </p:nvSpPr>
        <p:spPr>
          <a:xfrm>
            <a:off x="4881033" y="3403600"/>
            <a:ext cx="3090333" cy="2152650"/>
          </a:xfrm>
          <a:prstGeom prst="rect">
            <a:avLst/>
          </a:prstGeom>
          <a:solidFill>
            <a:srgbClr val="F7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574800" y="3492500"/>
            <a:ext cx="2912533" cy="946150"/>
          </a:xfrm>
          <a:prstGeom prst="rect">
            <a:avLst/>
          </a:prstGeom>
          <a:solidFill>
            <a:srgbClr val="ECEEE8"/>
          </a:solidFill>
          <a:ln w="6350">
            <a:solidFill>
              <a:srgbClr val="D8DB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701800" y="3606800"/>
            <a:ext cx="2658533" cy="717550"/>
          </a:xfrm>
          <a:prstGeom prst="rect">
            <a:avLst/>
          </a:prstGeom>
          <a:noFill/>
        </p:spPr>
        <p:txBody>
          <a:bodyPr wrap="square" anchor="t" lIns="0" rIns="0" tIns="0" bIns="0">
            <a:spAutoFit/>
          </a:bodyPr>
          <a:lstStyle/>
          <a:p>
            <a:pPr algn="l">
              <a:lnSpc>
                <a:spcPct val="120000"/>
              </a:lnSpc>
            </a:pPr>
            <a:r>
              <a:rPr sz="1200" b="1" i="0" spc="50">
                <a:solidFill>
                  <a:srgbClr val="6A7179"/>
                </a:solidFill>
                <a:latin typeface="Helvetica Neue"/>
              </a:rPr>
              <a:t>STAGE 1</a:t>
            </a:r>
          </a:p>
          <a:p>
            <a:pPr algn="l">
              <a:lnSpc>
                <a:spcPct val="115000"/>
              </a:lnSpc>
              <a:spcBef>
                <a:spcPts val="200"/>
              </a:spcBef>
            </a:pPr>
            <a:r>
              <a:rPr sz="1800" b="1" i="0">
                <a:solidFill>
                  <a:srgbClr val="14213D"/>
                </a:solidFill>
                <a:latin typeface="Georgia"/>
              </a:rPr>
              <a:t>Retrieve</a:t>
            </a:r>
          </a:p>
          <a:p>
            <a:pPr algn="l">
              <a:lnSpc>
                <a:spcPct val="130000"/>
              </a:lnSpc>
              <a:spcBef>
                <a:spcPts val="300"/>
              </a:spcBef>
            </a:pPr>
            <a:r>
              <a:rPr sz="1200" b="0" i="0">
                <a:solidFill>
                  <a:srgbClr val="4A5568"/>
                </a:solidFill>
                <a:latin typeface="Helvetica Neue"/>
              </a:rPr>
              <a:t>~239 sentences → 60</a:t>
            </a:r>
          </a:p>
        </p:txBody>
      </p:sp>
      <p:sp>
        <p:nvSpPr>
          <p:cNvPr id="18" name="TextBox 17"/>
          <p:cNvSpPr txBox="1"/>
          <p:nvPr/>
        </p:nvSpPr>
        <p:spPr>
          <a:xfrm>
            <a:off x="4588933" y="3492500"/>
            <a:ext cx="279400" cy="946150"/>
          </a:xfrm>
          <a:prstGeom prst="rect">
            <a:avLst/>
          </a:prstGeom>
          <a:noFill/>
        </p:spPr>
        <p:txBody>
          <a:bodyPr wrap="square" anchor="ctr" lIns="0" rIns="0" tIns="0" bIns="0">
            <a:spAutoFit/>
          </a:bodyPr>
          <a:lstStyle/>
          <a:p>
            <a:pPr algn="l">
              <a:lnSpc>
                <a:spcPct val="130000"/>
              </a:lnSpc>
            </a:pPr>
            <a:r>
              <a:rPr sz="1600" b="0" i="0">
                <a:solidFill>
                  <a:srgbClr val="A8AFA8"/>
                </a:solidFill>
                <a:latin typeface="Helvetica Neue"/>
              </a:rPr>
              <a:t>→</a:t>
            </a:r>
          </a:p>
        </p:txBody>
      </p:sp>
      <p:sp>
        <p:nvSpPr>
          <p:cNvPr id="19" name="Rectangle 18"/>
          <p:cNvSpPr/>
          <p:nvPr/>
        </p:nvSpPr>
        <p:spPr>
          <a:xfrm>
            <a:off x="4969933" y="3492500"/>
            <a:ext cx="2912533" cy="946150"/>
          </a:xfrm>
          <a:prstGeom prst="rect">
            <a:avLst/>
          </a:prstGeom>
          <a:solidFill>
            <a:srgbClr val="ECEEE8"/>
          </a:solidFill>
          <a:ln w="6350">
            <a:solidFill>
              <a:srgbClr val="D8DB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096933" y="3606800"/>
            <a:ext cx="2658533" cy="717550"/>
          </a:xfrm>
          <a:prstGeom prst="rect">
            <a:avLst/>
          </a:prstGeom>
          <a:noFill/>
        </p:spPr>
        <p:txBody>
          <a:bodyPr wrap="square" anchor="t" lIns="0" rIns="0" tIns="0" bIns="0">
            <a:spAutoFit/>
          </a:bodyPr>
          <a:lstStyle/>
          <a:p>
            <a:pPr algn="l">
              <a:lnSpc>
                <a:spcPct val="120000"/>
              </a:lnSpc>
            </a:pPr>
            <a:r>
              <a:rPr sz="1200" b="1" i="0" spc="50">
                <a:solidFill>
                  <a:srgbClr val="6A7179"/>
                </a:solidFill>
                <a:latin typeface="Helvetica Neue"/>
              </a:rPr>
              <a:t>STAGE 2</a:t>
            </a:r>
          </a:p>
          <a:p>
            <a:pPr algn="l">
              <a:lnSpc>
                <a:spcPct val="115000"/>
              </a:lnSpc>
              <a:spcBef>
                <a:spcPts val="200"/>
              </a:spcBef>
            </a:pPr>
            <a:r>
              <a:rPr sz="1800" b="1" i="0">
                <a:solidFill>
                  <a:srgbClr val="14213D"/>
                </a:solidFill>
                <a:latin typeface="Georgia"/>
              </a:rPr>
              <a:t>Rerank</a:t>
            </a:r>
          </a:p>
          <a:p>
            <a:pPr algn="l">
              <a:lnSpc>
                <a:spcPct val="130000"/>
              </a:lnSpc>
              <a:spcBef>
                <a:spcPts val="300"/>
              </a:spcBef>
            </a:pPr>
            <a:r>
              <a:rPr sz="1200" b="0" i="0">
                <a:solidFill>
                  <a:srgbClr val="4A5568"/>
                </a:solidFill>
                <a:latin typeface="Helvetica Neue"/>
              </a:rPr>
              <a:t>60 → the top 20</a:t>
            </a:r>
          </a:p>
        </p:txBody>
      </p:sp>
      <p:sp>
        <p:nvSpPr>
          <p:cNvPr id="21" name="TextBox 20"/>
          <p:cNvSpPr txBox="1"/>
          <p:nvPr/>
        </p:nvSpPr>
        <p:spPr>
          <a:xfrm>
            <a:off x="7984067" y="3492500"/>
            <a:ext cx="279400" cy="946150"/>
          </a:xfrm>
          <a:prstGeom prst="rect">
            <a:avLst/>
          </a:prstGeom>
          <a:noFill/>
        </p:spPr>
        <p:txBody>
          <a:bodyPr wrap="square" anchor="ctr" lIns="0" rIns="0" tIns="0" bIns="0">
            <a:spAutoFit/>
          </a:bodyPr>
          <a:lstStyle/>
          <a:p>
            <a:pPr algn="l">
              <a:lnSpc>
                <a:spcPct val="130000"/>
              </a:lnSpc>
            </a:pPr>
            <a:r>
              <a:rPr sz="1600" b="0" i="0">
                <a:solidFill>
                  <a:srgbClr val="A8AFA8"/>
                </a:solidFill>
                <a:latin typeface="Helvetica Neue"/>
              </a:rPr>
              <a:t>→</a:t>
            </a:r>
          </a:p>
        </p:txBody>
      </p:sp>
      <p:sp>
        <p:nvSpPr>
          <p:cNvPr id="22" name="Rectangle 21"/>
          <p:cNvSpPr/>
          <p:nvPr/>
        </p:nvSpPr>
        <p:spPr>
          <a:xfrm>
            <a:off x="8365067" y="3492500"/>
            <a:ext cx="2912533" cy="946150"/>
          </a:xfrm>
          <a:prstGeom prst="rect">
            <a:avLst/>
          </a:prstGeom>
          <a:solidFill>
            <a:srgbClr val="ECEEE8"/>
          </a:solidFill>
          <a:ln w="6350">
            <a:solidFill>
              <a:srgbClr val="D8DB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92067" y="3606800"/>
            <a:ext cx="2658533" cy="717550"/>
          </a:xfrm>
          <a:prstGeom prst="rect">
            <a:avLst/>
          </a:prstGeom>
          <a:noFill/>
        </p:spPr>
        <p:txBody>
          <a:bodyPr wrap="square" anchor="t" lIns="0" rIns="0" tIns="0" bIns="0">
            <a:spAutoFit/>
          </a:bodyPr>
          <a:lstStyle/>
          <a:p>
            <a:pPr algn="l">
              <a:lnSpc>
                <a:spcPct val="120000"/>
              </a:lnSpc>
            </a:pPr>
            <a:r>
              <a:rPr sz="1200" b="1" i="0" spc="50">
                <a:solidFill>
                  <a:srgbClr val="6A7179"/>
                </a:solidFill>
                <a:latin typeface="Helvetica Neue"/>
              </a:rPr>
              <a:t>STAGE 3</a:t>
            </a:r>
          </a:p>
          <a:p>
            <a:pPr algn="l">
              <a:lnSpc>
                <a:spcPct val="115000"/>
              </a:lnSpc>
              <a:spcBef>
                <a:spcPts val="200"/>
              </a:spcBef>
            </a:pPr>
            <a:r>
              <a:rPr sz="1800" b="1" i="0">
                <a:solidFill>
                  <a:srgbClr val="14213D"/>
                </a:solidFill>
                <a:latin typeface="Georgia"/>
              </a:rPr>
              <a:t>Classify</a:t>
            </a:r>
          </a:p>
          <a:p>
            <a:pPr algn="l">
              <a:lnSpc>
                <a:spcPct val="130000"/>
              </a:lnSpc>
              <a:spcBef>
                <a:spcPts val="300"/>
              </a:spcBef>
            </a:pPr>
            <a:r>
              <a:rPr sz="1200" b="0" i="0">
                <a:solidFill>
                  <a:srgbClr val="4A5568"/>
                </a:solidFill>
                <a:latin typeface="Helvetica Neue"/>
              </a:rPr>
              <a:t>20 → one of 3 labels</a:t>
            </a:r>
          </a:p>
        </p:txBody>
      </p:sp>
      <p:sp>
        <p:nvSpPr>
          <p:cNvPr id="24" name="TextBox 23"/>
          <p:cNvSpPr txBox="1"/>
          <p:nvPr/>
        </p:nvSpPr>
        <p:spPr>
          <a:xfrm>
            <a:off x="812800" y="4514850"/>
            <a:ext cx="660400" cy="444500"/>
          </a:xfrm>
          <a:prstGeom prst="rect">
            <a:avLst/>
          </a:prstGeom>
          <a:noFill/>
        </p:spPr>
        <p:txBody>
          <a:bodyPr wrap="square" anchor="ctr" lIns="0" rIns="0" tIns="0" bIns="0">
            <a:spAutoFit/>
          </a:bodyPr>
          <a:lstStyle/>
          <a:p>
            <a:pPr algn="l">
              <a:lnSpc>
                <a:spcPct val="130000"/>
              </a:lnSpc>
            </a:pPr>
            <a:r>
              <a:rPr sz="1200" b="1" i="0" spc="100">
                <a:solidFill>
                  <a:srgbClr val="2D5F8B"/>
                </a:solidFill>
                <a:latin typeface="Helvetica Neue"/>
              </a:rPr>
              <a:t>PAPER</a:t>
            </a:r>
          </a:p>
        </p:txBody>
      </p:sp>
      <p:sp>
        <p:nvSpPr>
          <p:cNvPr id="25" name="TextBox 24"/>
          <p:cNvSpPr txBox="1"/>
          <p:nvPr/>
        </p:nvSpPr>
        <p:spPr>
          <a:xfrm>
            <a:off x="1701800" y="4514850"/>
            <a:ext cx="2658533" cy="444500"/>
          </a:xfrm>
          <a:prstGeom prst="rect">
            <a:avLst/>
          </a:prstGeom>
          <a:noFill/>
        </p:spPr>
        <p:txBody>
          <a:bodyPr wrap="square" anchor="t" lIns="0" rIns="0" tIns="0" bIns="0">
            <a:spAutoFit/>
          </a:bodyPr>
          <a:lstStyle/>
          <a:p>
            <a:pPr algn="l">
              <a:lnSpc>
                <a:spcPct val="130000"/>
              </a:lnSpc>
            </a:pPr>
            <a:r>
              <a:rPr sz="1200" b="1" i="0">
                <a:solidFill>
                  <a:srgbClr val="6A7179"/>
                </a:solidFill>
                <a:latin typeface="Helvetica Neue"/>
              </a:rPr>
              <a:t>BM25</a:t>
            </a:r>
            <a:r>
              <a:rPr sz="1200" b="0" i="0">
                <a:solidFill>
                  <a:srgbClr val="6A7179"/>
                </a:solidFill>
                <a:latin typeface="Helvetica Neue"/>
              </a:rPr>
              <a:t>  k1 0.9 · b 0.4 · top-60</a:t>
            </a:r>
          </a:p>
        </p:txBody>
      </p:sp>
      <p:sp>
        <p:nvSpPr>
          <p:cNvPr id="26" name="TextBox 25"/>
          <p:cNvSpPr txBox="1"/>
          <p:nvPr/>
        </p:nvSpPr>
        <p:spPr>
          <a:xfrm>
            <a:off x="5096933" y="4514850"/>
            <a:ext cx="2658533" cy="444500"/>
          </a:xfrm>
          <a:prstGeom prst="rect">
            <a:avLst/>
          </a:prstGeom>
          <a:noFill/>
        </p:spPr>
        <p:txBody>
          <a:bodyPr wrap="square" anchor="t" lIns="0" rIns="0" tIns="0" bIns="0">
            <a:spAutoFit/>
          </a:bodyPr>
          <a:lstStyle/>
          <a:p>
            <a:pPr algn="l">
              <a:lnSpc>
                <a:spcPct val="130000"/>
              </a:lnSpc>
            </a:pPr>
            <a:r>
              <a:rPr sz="1200" b="1" i="0">
                <a:solidFill>
                  <a:srgbClr val="2D5F8B"/>
                </a:solidFill>
                <a:latin typeface="Helvetica Neue"/>
              </a:rPr>
              <a:t>MonoT5-base</a:t>
            </a:r>
            <a:r>
              <a:rPr sz="1200" b="0" i="0">
                <a:solidFill>
                  <a:srgbClr val="4A5568"/>
                </a:solidFill>
                <a:latin typeface="Helvetica Neue"/>
              </a:rPr>
              <a:t>, zero-shot  222.9M · each sentence scored alone</a:t>
            </a:r>
          </a:p>
        </p:txBody>
      </p:sp>
      <p:sp>
        <p:nvSpPr>
          <p:cNvPr id="27" name="TextBox 26"/>
          <p:cNvSpPr txBox="1"/>
          <p:nvPr/>
        </p:nvSpPr>
        <p:spPr>
          <a:xfrm>
            <a:off x="8492067" y="4514850"/>
            <a:ext cx="2658533" cy="444500"/>
          </a:xfrm>
          <a:prstGeom prst="rect">
            <a:avLst/>
          </a:prstGeom>
          <a:noFill/>
        </p:spPr>
        <p:txBody>
          <a:bodyPr wrap="square" anchor="t" lIns="0" rIns="0" tIns="0" bIns="0">
            <a:spAutoFit/>
          </a:bodyPr>
          <a:lstStyle/>
          <a:p>
            <a:pPr algn="l">
              <a:lnSpc>
                <a:spcPct val="130000"/>
              </a:lnSpc>
            </a:pPr>
            <a:r>
              <a:rPr sz="1200" b="1" i="0">
                <a:solidFill>
                  <a:srgbClr val="6A7179"/>
                </a:solidFill>
                <a:latin typeface="Helvetica Neue"/>
              </a:rPr>
              <a:t>MultiVerS</a:t>
            </a:r>
            <a:r>
              <a:rPr sz="1200" b="0" i="0">
                <a:solidFill>
                  <a:srgbClr val="6A7179"/>
                </a:solidFill>
                <a:latin typeface="Helvetica Neue"/>
              </a:rPr>
              <a:t> (Longformer-large), fine-tuned</a:t>
            </a:r>
          </a:p>
        </p:txBody>
      </p:sp>
      <p:sp>
        <p:nvSpPr>
          <p:cNvPr id="28" name="TextBox 27"/>
          <p:cNvSpPr txBox="1"/>
          <p:nvPr/>
        </p:nvSpPr>
        <p:spPr>
          <a:xfrm>
            <a:off x="812800" y="5022850"/>
            <a:ext cx="660400" cy="444500"/>
          </a:xfrm>
          <a:prstGeom prst="rect">
            <a:avLst/>
          </a:prstGeom>
          <a:noFill/>
        </p:spPr>
        <p:txBody>
          <a:bodyPr wrap="square" anchor="ctr" lIns="0" rIns="0" tIns="0" bIns="0">
            <a:spAutoFit/>
          </a:bodyPr>
          <a:lstStyle/>
          <a:p>
            <a:pPr algn="l">
              <a:lnSpc>
                <a:spcPct val="130000"/>
              </a:lnSpc>
            </a:pPr>
            <a:r>
              <a:rPr sz="1200" b="1" i="0" spc="100">
                <a:solidFill>
                  <a:srgbClr val="B4530A"/>
                </a:solidFill>
                <a:latin typeface="Helvetica Neue"/>
              </a:rPr>
              <a:t>OURS</a:t>
            </a:r>
          </a:p>
        </p:txBody>
      </p:sp>
      <p:sp>
        <p:nvSpPr>
          <p:cNvPr id="29" name="TextBox 28"/>
          <p:cNvSpPr txBox="1"/>
          <p:nvPr/>
        </p:nvSpPr>
        <p:spPr>
          <a:xfrm>
            <a:off x="1701800" y="5022850"/>
            <a:ext cx="2658533" cy="444500"/>
          </a:xfrm>
          <a:prstGeom prst="rect">
            <a:avLst/>
          </a:prstGeom>
          <a:noFill/>
        </p:spPr>
        <p:txBody>
          <a:bodyPr wrap="square" anchor="t" lIns="0" rIns="0" tIns="0" bIns="0">
            <a:spAutoFit/>
          </a:bodyPr>
          <a:lstStyle/>
          <a:p>
            <a:pPr algn="l">
              <a:lnSpc>
                <a:spcPct val="130000"/>
              </a:lnSpc>
            </a:pPr>
            <a:r>
              <a:rPr sz="1200" b="1" i="0">
                <a:solidFill>
                  <a:srgbClr val="6A7179"/>
                </a:solidFill>
                <a:latin typeface="Helvetica Neue"/>
              </a:rPr>
              <a:t>BM25</a:t>
            </a:r>
            <a:r>
              <a:rPr sz="1200" b="0" i="0">
                <a:solidFill>
                  <a:srgbClr val="6A7179"/>
                </a:solidFill>
                <a:latin typeface="Helvetica Neue"/>
              </a:rPr>
              <a:t>  identical settings</a:t>
            </a:r>
          </a:p>
        </p:txBody>
      </p:sp>
      <p:sp>
        <p:nvSpPr>
          <p:cNvPr id="30" name="TextBox 29"/>
          <p:cNvSpPr txBox="1"/>
          <p:nvPr/>
        </p:nvSpPr>
        <p:spPr>
          <a:xfrm>
            <a:off x="5096933" y="5022850"/>
            <a:ext cx="2658533" cy="444500"/>
          </a:xfrm>
          <a:prstGeom prst="rect">
            <a:avLst/>
          </a:prstGeom>
          <a:noFill/>
        </p:spPr>
        <p:txBody>
          <a:bodyPr wrap="square" anchor="t" lIns="0" rIns="0" tIns="0" bIns="0">
            <a:spAutoFit/>
          </a:bodyPr>
          <a:lstStyle/>
          <a:p>
            <a:pPr algn="l">
              <a:lnSpc>
                <a:spcPct val="130000"/>
              </a:lnSpc>
            </a:pPr>
            <a:r>
              <a:rPr sz="1200" b="1" i="0">
                <a:solidFill>
                  <a:srgbClr val="B4530A"/>
                </a:solidFill>
                <a:latin typeface="Helvetica Neue"/>
              </a:rPr>
              <a:t>PubMedBERT-base</a:t>
            </a:r>
            <a:r>
              <a:rPr sz="1200" b="0" i="0">
                <a:solidFill>
                  <a:srgbClr val="4A5568"/>
                </a:solidFill>
                <a:latin typeface="Helvetica Neue"/>
              </a:rPr>
              <a:t>, fine-tuned  109.5M · a sentence with ±1 neighbour</a:t>
            </a:r>
          </a:p>
        </p:txBody>
      </p:sp>
      <p:sp>
        <p:nvSpPr>
          <p:cNvPr id="31" name="TextBox 30"/>
          <p:cNvSpPr txBox="1"/>
          <p:nvPr/>
        </p:nvSpPr>
        <p:spPr>
          <a:xfrm>
            <a:off x="8492067" y="5022850"/>
            <a:ext cx="2658533" cy="444500"/>
          </a:xfrm>
          <a:prstGeom prst="rect">
            <a:avLst/>
          </a:prstGeom>
          <a:noFill/>
        </p:spPr>
        <p:txBody>
          <a:bodyPr wrap="square" anchor="t" lIns="0" rIns="0" tIns="0" bIns="0">
            <a:spAutoFit/>
          </a:bodyPr>
          <a:lstStyle/>
          <a:p>
            <a:pPr algn="l">
              <a:lnSpc>
                <a:spcPct val="130000"/>
              </a:lnSpc>
            </a:pPr>
            <a:r>
              <a:rPr sz="1200" b="1" i="0">
                <a:solidFill>
                  <a:srgbClr val="6A7179"/>
                </a:solidFill>
                <a:latin typeface="Helvetica Neue"/>
              </a:rPr>
              <a:t>MultiVerS</a:t>
            </a:r>
            <a:r>
              <a:rPr sz="1200" b="0" i="0">
                <a:solidFill>
                  <a:srgbClr val="6A7179"/>
                </a:solidFill>
                <a:latin typeface="Helvetica Neue"/>
              </a:rPr>
              <a:t>  identical frozen checkpoint</a:t>
            </a:r>
          </a:p>
        </p:txBody>
      </p:sp>
      <p:sp>
        <p:nvSpPr>
          <p:cNvPr id="32" name="TextBox 31"/>
          <p:cNvSpPr txBox="1"/>
          <p:nvPr/>
        </p:nvSpPr>
        <p:spPr>
          <a:xfrm>
            <a:off x="812800" y="6038850"/>
            <a:ext cx="10566400" cy="412750"/>
          </a:xfrm>
          <a:prstGeom prst="rect">
            <a:avLst/>
          </a:prstGeom>
          <a:noFill/>
        </p:spPr>
        <p:txBody>
          <a:bodyPr wrap="square" anchor="t" lIns="0" rIns="0" tIns="0" bIns="0">
            <a:spAutoFit/>
          </a:bodyPr>
          <a:lstStyle/>
          <a:p>
            <a:pPr algn="l">
              <a:lnSpc>
                <a:spcPct val="135000"/>
              </a:lnSpc>
            </a:pPr>
            <a:r>
              <a:rPr sz="1200" b="0" i="0">
                <a:solidFill>
                  <a:srgbClr val="6A7179"/>
                </a:solidFill>
                <a:latin typeface="Helvetica Neue"/>
              </a:rPr>
              <a:t>Counts are means over the 487 test citances. Stages 1 and 3 are the paper’s, unchanged — same candidate pool, same BM25 settings and depth, same frozen checkpoint — so the whole measured difference is attributable to stage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12800" y="609600"/>
            <a:ext cx="10566400" cy="190500"/>
          </a:xfrm>
          <a:prstGeom prst="rect">
            <a:avLst/>
          </a:prstGeom>
          <a:noFill/>
        </p:spPr>
        <p:txBody>
          <a:bodyPr wrap="square" anchor="t" lIns="0" rIns="0" tIns="0" bIns="0">
            <a:spAutoFit/>
          </a:bodyPr>
          <a:lstStyle/>
          <a:p>
            <a:pPr algn="l">
              <a:lnSpc>
                <a:spcPct val="120000"/>
              </a:lnSpc>
            </a:pPr>
            <a:r>
              <a:rPr sz="1200" b="1" i="0" spc="150">
                <a:solidFill>
                  <a:srgbClr val="B4530A"/>
                </a:solidFill>
                <a:latin typeface="Helvetica Neue"/>
              </a:rPr>
              <a:t>MAIN TAKEAWAY SO FAR · AND WHAT REMAINS</a:t>
            </a:r>
          </a:p>
        </p:txBody>
      </p:sp>
      <p:sp>
        <p:nvSpPr>
          <p:cNvPr id="4" name="TextBox 3"/>
          <p:cNvSpPr txBox="1"/>
          <p:nvPr/>
        </p:nvSpPr>
        <p:spPr>
          <a:xfrm>
            <a:off x="812800" y="850900"/>
            <a:ext cx="10566400" cy="419100"/>
          </a:xfrm>
          <a:prstGeom prst="rect">
            <a:avLst/>
          </a:prstGeom>
          <a:noFill/>
        </p:spPr>
        <p:txBody>
          <a:bodyPr wrap="square" anchor="t" lIns="0" rIns="0" tIns="0" bIns="0">
            <a:spAutoFit/>
          </a:bodyPr>
          <a:lstStyle/>
          <a:p>
            <a:pPr algn="l">
              <a:lnSpc>
                <a:spcPct val="108000"/>
              </a:lnSpc>
            </a:pPr>
            <a:r>
              <a:rPr sz="3000" b="1" i="0">
                <a:solidFill>
                  <a:srgbClr val="14213D"/>
                </a:solidFill>
                <a:latin typeface="Georgia"/>
              </a:rPr>
              <a:t>Retrieval improved. The classifier is the ceiling.</a:t>
            </a:r>
          </a:p>
        </p:txBody>
      </p:sp>
      <p:sp>
        <p:nvSpPr>
          <p:cNvPr id="5" name="TextBox 4"/>
          <p:cNvSpPr txBox="1"/>
          <p:nvPr/>
        </p:nvSpPr>
        <p:spPr>
          <a:xfrm>
            <a:off x="812800" y="1473200"/>
            <a:ext cx="5468189" cy="254000"/>
          </a:xfrm>
          <a:prstGeom prst="rect">
            <a:avLst/>
          </a:prstGeom>
          <a:noFill/>
        </p:spPr>
        <p:txBody>
          <a:bodyPr wrap="square" anchor="t" lIns="0" rIns="0" tIns="0" bIns="0">
            <a:spAutoFit/>
          </a:bodyPr>
          <a:lstStyle/>
          <a:p>
            <a:pPr algn="l">
              <a:lnSpc>
                <a:spcPct val="120000"/>
              </a:lnSpc>
            </a:pPr>
            <a:r>
              <a:rPr sz="1600" b="1" i="0">
                <a:solidFill>
                  <a:srgbClr val="14213D"/>
                </a:solidFill>
                <a:latin typeface="Georgia"/>
              </a:rPr>
              <a:t>Retrieval — held-out test, measured once</a:t>
            </a:r>
          </a:p>
        </p:txBody>
      </p:sp>
      <p:graphicFrame>
        <p:nvGraphicFramePr>
          <p:cNvPr id="6" name="Table 5"/>
          <p:cNvGraphicFramePr>
            <a:graphicFrameLocks noGrp="1"/>
          </p:cNvGraphicFramePr>
          <p:nvPr/>
        </p:nvGraphicFramePr>
        <p:xfrm>
          <a:off x="812800" y="1803400"/>
          <a:ext cx="5468189" cy="1397000"/>
        </p:xfrm>
        <a:graphic>
          <a:graphicData uri="http://schemas.openxmlformats.org/drawingml/2006/table">
            <a:tbl>
              <a:tblPr>
                <a:tableStyleId>{5C22544A-7EE6-4342-B048-85BDC9FD1C3A}</a:tableStyleId>
              </a:tblPr>
              <a:tblGrid>
                <a:gridCol w="1859184"/>
                <a:gridCol w="1038956"/>
                <a:gridCol w="1038956"/>
                <a:gridCol w="1531093"/>
              </a:tblGrid>
              <a:tr h="279400">
                <a:tc>
                  <a:txBody>
                    <a:bodyPr/>
                    <a:lstStyle/>
                    <a:p>
                      <a:pPr algn="l"/>
                      <a:r>
                        <a:rPr sz="1200" b="1">
                          <a:solidFill>
                            <a:srgbClr val="14213D"/>
                          </a:solidFill>
                          <a:latin typeface="Helvetica Neue"/>
                        </a:rPr>
                        <a:t>Metric</a:t>
                      </a:r>
                    </a:p>
                  </a:txBody>
                  <a:tcPr anchor="ctr" marL="88900" marR="88900" marT="50800" marB="50800">
                    <a:solidFill>
                      <a:srgbClr val="ECEEE8"/>
                    </a:solidFill>
                  </a:tcPr>
                </a:tc>
                <a:tc>
                  <a:txBody>
                    <a:bodyPr/>
                    <a:lstStyle/>
                    <a:p>
                      <a:pPr algn="r"/>
                      <a:r>
                        <a:rPr sz="1200" b="1">
                          <a:solidFill>
                            <a:srgbClr val="14213D"/>
                          </a:solidFill>
                          <a:latin typeface="Helvetica Neue"/>
                        </a:rPr>
                        <a:t>Paper</a:t>
                      </a:r>
                    </a:p>
                  </a:txBody>
                  <a:tcPr anchor="ctr" marL="88900" marR="88900" marT="50800" marB="50800">
                    <a:solidFill>
                      <a:srgbClr val="ECEEE8"/>
                    </a:solidFill>
                  </a:tcPr>
                </a:tc>
                <a:tc>
                  <a:txBody>
                    <a:bodyPr/>
                    <a:lstStyle/>
                    <a:p>
                      <a:pPr algn="r"/>
                      <a:r>
                        <a:rPr sz="1200" b="1">
                          <a:solidFill>
                            <a:srgbClr val="14213D"/>
                          </a:solidFill>
                          <a:latin typeface="Helvetica Neue"/>
                        </a:rPr>
                        <a:t>Ours</a:t>
                      </a:r>
                    </a:p>
                  </a:txBody>
                  <a:tcPr anchor="ctr" marL="88900" marR="88900" marT="50800" marB="50800">
                    <a:solidFill>
                      <a:srgbClr val="ECEEE8"/>
                    </a:solidFill>
                  </a:tcPr>
                </a:tc>
                <a:tc>
                  <a:txBody>
                    <a:bodyPr/>
                    <a:lstStyle/>
                    <a:p>
                      <a:pPr algn="r"/>
                      <a:r>
                        <a:rPr sz="1200" b="1">
                          <a:solidFill>
                            <a:srgbClr val="14213D"/>
                          </a:solidFill>
                          <a:latin typeface="Helvetica Neue"/>
                        </a:rPr>
                        <a:t>Δ (95% CI)</a:t>
                      </a:r>
                    </a:p>
                  </a:txBody>
                  <a:tcPr anchor="ctr" marL="88900" marR="88900" marT="50800" marB="50800">
                    <a:solidFill>
                      <a:srgbClr val="ECEEE8"/>
                    </a:solidFill>
                  </a:tcPr>
                </a:tc>
              </a:tr>
              <a:tr h="279400">
                <a:tc>
                  <a:txBody>
                    <a:bodyPr/>
                    <a:lstStyle/>
                    <a:p>
                      <a:pPr algn="l"/>
                      <a:r>
                        <a:rPr sz="1200" b="0">
                          <a:solidFill>
                            <a:srgbClr val="14213D"/>
                          </a:solidFill>
                          <a:latin typeface="Helvetica Neue"/>
                        </a:rPr>
                        <a:t>Recall@20</a:t>
                      </a:r>
                    </a:p>
                  </a:txBody>
                  <a:tcPr anchor="ctr" marL="88900" marR="88900" marT="50800" marB="50800">
                    <a:solidFill>
                      <a:srgbClr val="FBFBF8"/>
                    </a:solidFill>
                  </a:tcPr>
                </a:tc>
                <a:tc>
                  <a:txBody>
                    <a:bodyPr/>
                    <a:lstStyle/>
                    <a:p>
                      <a:pPr algn="r"/>
                      <a:r>
                        <a:rPr sz="1200" b="0">
                          <a:solidFill>
                            <a:srgbClr val="2D5F8B"/>
                          </a:solidFill>
                          <a:latin typeface="Helvetica Neue"/>
                        </a:rPr>
                        <a:t>0.529</a:t>
                      </a:r>
                    </a:p>
                  </a:txBody>
                  <a:tcPr anchor="ctr" marL="88900" marR="88900" marT="50800" marB="50800">
                    <a:solidFill>
                      <a:srgbClr val="FBFBF8"/>
                    </a:solidFill>
                  </a:tcPr>
                </a:tc>
                <a:tc>
                  <a:txBody>
                    <a:bodyPr/>
                    <a:lstStyle/>
                    <a:p>
                      <a:pPr algn="r"/>
                      <a:r>
                        <a:rPr sz="1200" b="1">
                          <a:solidFill>
                            <a:srgbClr val="B4530A"/>
                          </a:solidFill>
                          <a:latin typeface="Helvetica Neue"/>
                        </a:rPr>
                        <a:t>0.638</a:t>
                      </a:r>
                    </a:p>
                  </a:txBody>
                  <a:tcPr anchor="ctr" marL="88900" marR="88900" marT="50800" marB="50800">
                    <a:solidFill>
                      <a:srgbClr val="FBFBF8"/>
                    </a:solidFill>
                  </a:tcPr>
                </a:tc>
                <a:tc>
                  <a:txBody>
                    <a:bodyPr/>
                    <a:lstStyle/>
                    <a:p>
                      <a:pPr algn="r"/>
                      <a:r>
                        <a:rPr sz="1200" b="0">
                          <a:solidFill>
                            <a:srgbClr val="B4530A"/>
                          </a:solidFill>
                          <a:latin typeface="Helvetica Neue"/>
                        </a:rPr>
                        <a:t>+0.109 ±0.024</a:t>
                      </a:r>
                    </a:p>
                  </a:txBody>
                  <a:tcPr anchor="ctr" marL="88900" marR="88900" marT="50800" marB="50800">
                    <a:solidFill>
                      <a:srgbClr val="FBFBF8"/>
                    </a:solidFill>
                  </a:tcPr>
                </a:tc>
              </a:tr>
              <a:tr h="279400">
                <a:tc>
                  <a:txBody>
                    <a:bodyPr/>
                    <a:lstStyle/>
                    <a:p>
                      <a:pPr algn="l"/>
                      <a:r>
                        <a:rPr sz="1200" b="0">
                          <a:solidFill>
                            <a:srgbClr val="14213D"/>
                          </a:solidFill>
                          <a:latin typeface="Helvetica Neue"/>
                        </a:rPr>
                        <a:t>Recall@10</a:t>
                      </a:r>
                    </a:p>
                  </a:txBody>
                  <a:tcPr anchor="ctr" marL="88900" marR="88900" marT="50800" marB="50800">
                    <a:solidFill>
                      <a:srgbClr val="FBFBF8"/>
                    </a:solidFill>
                  </a:tcPr>
                </a:tc>
                <a:tc>
                  <a:txBody>
                    <a:bodyPr/>
                    <a:lstStyle/>
                    <a:p>
                      <a:pPr algn="r"/>
                      <a:r>
                        <a:rPr sz="1200" b="0">
                          <a:solidFill>
                            <a:srgbClr val="2D5F8B"/>
                          </a:solidFill>
                          <a:latin typeface="Helvetica Neue"/>
                        </a:rPr>
                        <a:t>0.422</a:t>
                      </a:r>
                    </a:p>
                  </a:txBody>
                  <a:tcPr anchor="ctr" marL="88900" marR="88900" marT="50800" marB="50800">
                    <a:solidFill>
                      <a:srgbClr val="FBFBF8"/>
                    </a:solidFill>
                  </a:tcPr>
                </a:tc>
                <a:tc>
                  <a:txBody>
                    <a:bodyPr/>
                    <a:lstStyle/>
                    <a:p>
                      <a:pPr algn="r"/>
                      <a:r>
                        <a:rPr sz="1200" b="1">
                          <a:solidFill>
                            <a:srgbClr val="B4530A"/>
                          </a:solidFill>
                          <a:latin typeface="Helvetica Neue"/>
                        </a:rPr>
                        <a:t>0.523</a:t>
                      </a:r>
                    </a:p>
                  </a:txBody>
                  <a:tcPr anchor="ctr" marL="88900" marR="88900" marT="50800" marB="50800">
                    <a:solidFill>
                      <a:srgbClr val="FBFBF8"/>
                    </a:solidFill>
                  </a:tcPr>
                </a:tc>
                <a:tc>
                  <a:txBody>
                    <a:bodyPr/>
                    <a:lstStyle/>
                    <a:p>
                      <a:pPr algn="r"/>
                      <a:r>
                        <a:rPr sz="1200" b="0">
                          <a:solidFill>
                            <a:srgbClr val="B4530A"/>
                          </a:solidFill>
                          <a:latin typeface="Helvetica Neue"/>
                        </a:rPr>
                        <a:t>+0.101 ±0.040</a:t>
                      </a:r>
                    </a:p>
                  </a:txBody>
                  <a:tcPr anchor="ctr" marL="88900" marR="88900" marT="50800" marB="50800">
                    <a:solidFill>
                      <a:srgbClr val="FBFBF8"/>
                    </a:solidFill>
                  </a:tcPr>
                </a:tc>
              </a:tr>
              <a:tr h="279400">
                <a:tc>
                  <a:txBody>
                    <a:bodyPr/>
                    <a:lstStyle/>
                    <a:p>
                      <a:pPr algn="l"/>
                      <a:r>
                        <a:rPr sz="1200" b="0">
                          <a:solidFill>
                            <a:srgbClr val="14213D"/>
                          </a:solidFill>
                          <a:latin typeface="Helvetica Neue"/>
                        </a:rPr>
                        <a:t>AllGold@20</a:t>
                      </a:r>
                    </a:p>
                  </a:txBody>
                  <a:tcPr anchor="ctr" marL="88900" marR="88900" marT="50800" marB="50800">
                    <a:solidFill>
                      <a:srgbClr val="FBFBF8"/>
                    </a:solidFill>
                  </a:tcPr>
                </a:tc>
                <a:tc>
                  <a:txBody>
                    <a:bodyPr/>
                    <a:lstStyle/>
                    <a:p>
                      <a:pPr algn="r"/>
                      <a:r>
                        <a:rPr sz="1200" b="0">
                          <a:solidFill>
                            <a:srgbClr val="2D5F8B"/>
                          </a:solidFill>
                          <a:latin typeface="Helvetica Neue"/>
                        </a:rPr>
                        <a:t>0.372</a:t>
                      </a:r>
                    </a:p>
                  </a:txBody>
                  <a:tcPr anchor="ctr" marL="88900" marR="88900" marT="50800" marB="50800">
                    <a:solidFill>
                      <a:srgbClr val="FBFBF8"/>
                    </a:solidFill>
                  </a:tcPr>
                </a:tc>
                <a:tc>
                  <a:txBody>
                    <a:bodyPr/>
                    <a:lstStyle/>
                    <a:p>
                      <a:pPr algn="r"/>
                      <a:r>
                        <a:rPr sz="1200" b="1">
                          <a:solidFill>
                            <a:srgbClr val="B4530A"/>
                          </a:solidFill>
                          <a:latin typeface="Helvetica Neue"/>
                        </a:rPr>
                        <a:t>0.493</a:t>
                      </a:r>
                    </a:p>
                  </a:txBody>
                  <a:tcPr anchor="ctr" marL="88900" marR="88900" marT="50800" marB="50800">
                    <a:solidFill>
                      <a:srgbClr val="FBFBF8"/>
                    </a:solidFill>
                  </a:tcPr>
                </a:tc>
                <a:tc>
                  <a:txBody>
                    <a:bodyPr/>
                    <a:lstStyle/>
                    <a:p>
                      <a:pPr algn="r"/>
                      <a:r>
                        <a:rPr sz="1200" b="0">
                          <a:solidFill>
                            <a:srgbClr val="B4530A"/>
                          </a:solidFill>
                          <a:latin typeface="Helvetica Neue"/>
                        </a:rPr>
                        <a:t>+0.097 ±0.036</a:t>
                      </a:r>
                    </a:p>
                  </a:txBody>
                  <a:tcPr anchor="ctr" marL="88900" marR="88900" marT="50800" marB="50800">
                    <a:solidFill>
                      <a:srgbClr val="FBFBF8"/>
                    </a:solidFill>
                  </a:tcPr>
                </a:tc>
              </a:tr>
              <a:tr h="279400">
                <a:tc>
                  <a:txBody>
                    <a:bodyPr/>
                    <a:lstStyle/>
                    <a:p>
                      <a:pPr algn="l"/>
                      <a:r>
                        <a:rPr sz="1200" b="0">
                          <a:solidFill>
                            <a:srgbClr val="14213D"/>
                          </a:solidFill>
                          <a:latin typeface="Helvetica Neue"/>
                        </a:rPr>
                        <a:t>MRR</a:t>
                      </a:r>
                    </a:p>
                  </a:txBody>
                  <a:tcPr anchor="ctr" marL="88900" marR="88900" marT="50800" marB="50800">
                    <a:solidFill>
                      <a:srgbClr val="FBFBF8"/>
                    </a:solidFill>
                  </a:tcPr>
                </a:tc>
                <a:tc>
                  <a:txBody>
                    <a:bodyPr/>
                    <a:lstStyle/>
                    <a:p>
                      <a:pPr algn="r"/>
                      <a:r>
                        <a:rPr sz="1200" b="0">
                          <a:solidFill>
                            <a:srgbClr val="2D5F8B"/>
                          </a:solidFill>
                          <a:latin typeface="Helvetica Neue"/>
                        </a:rPr>
                        <a:t>0.323</a:t>
                      </a:r>
                    </a:p>
                  </a:txBody>
                  <a:tcPr anchor="ctr" marL="88900" marR="88900" marT="50800" marB="50800">
                    <a:solidFill>
                      <a:srgbClr val="FBFBF8"/>
                    </a:solidFill>
                  </a:tcPr>
                </a:tc>
                <a:tc>
                  <a:txBody>
                    <a:bodyPr/>
                    <a:lstStyle/>
                    <a:p>
                      <a:pPr algn="r"/>
                      <a:r>
                        <a:rPr sz="1200" b="1">
                          <a:solidFill>
                            <a:srgbClr val="B4530A"/>
                          </a:solidFill>
                          <a:latin typeface="Helvetica Neue"/>
                        </a:rPr>
                        <a:t>0.365</a:t>
                      </a:r>
                    </a:p>
                  </a:txBody>
                  <a:tcPr anchor="ctr" marL="88900" marR="88900" marT="50800" marB="50800">
                    <a:solidFill>
                      <a:srgbClr val="FBFBF8"/>
                    </a:solidFill>
                  </a:tcPr>
                </a:tc>
                <a:tc>
                  <a:txBody>
                    <a:bodyPr/>
                    <a:lstStyle/>
                    <a:p>
                      <a:pPr algn="r"/>
                      <a:r>
                        <a:rPr sz="1200" b="0">
                          <a:solidFill>
                            <a:srgbClr val="B4530A"/>
                          </a:solidFill>
                          <a:latin typeface="Helvetica Neue"/>
                        </a:rPr>
                        <a:t>+0.043 ±0.036</a:t>
                      </a:r>
                    </a:p>
                  </a:txBody>
                  <a:tcPr anchor="ctr" marL="88900" marR="88900" marT="50800" marB="50800">
                    <a:solidFill>
                      <a:srgbClr val="FBFBF8"/>
                    </a:solidFill>
                  </a:tcPr>
                </a:tc>
              </a:tr>
            </a:tbl>
          </a:graphicData>
        </a:graphic>
      </p:graphicFrame>
      <p:sp>
        <p:nvSpPr>
          <p:cNvPr id="7" name="Rectangle 6"/>
          <p:cNvSpPr/>
          <p:nvPr/>
        </p:nvSpPr>
        <p:spPr>
          <a:xfrm>
            <a:off x="812800" y="1803400"/>
            <a:ext cx="5468189" cy="1397000"/>
          </a:xfrm>
          <a:prstGeom prst="rect">
            <a:avLst/>
          </a:prstGeom>
          <a:noFill/>
          <a:ln w="6350">
            <a:solidFill>
              <a:srgbClr val="D8DB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12800" y="3263900"/>
            <a:ext cx="5468189" cy="412750"/>
          </a:xfrm>
          <a:prstGeom prst="rect">
            <a:avLst/>
          </a:prstGeom>
          <a:noFill/>
        </p:spPr>
        <p:txBody>
          <a:bodyPr wrap="square" anchor="t" lIns="0" rIns="0" tIns="0" bIns="0">
            <a:spAutoFit/>
          </a:bodyPr>
          <a:lstStyle/>
          <a:p>
            <a:pPr algn="l">
              <a:lnSpc>
                <a:spcPct val="135000"/>
              </a:lnSpc>
            </a:pPr>
            <a:r>
              <a:rPr sz="1200" b="0" i="0">
                <a:solidFill>
                  <a:srgbClr val="6A7179"/>
                </a:solidFill>
                <a:latin typeface="Helvetica Neue"/>
              </a:rPr>
              <a:t>Wins on 17 of 20 articles; every interval excludes zero. Half the parameters, 2.2× faster, 1.36× the FLOPs as configured.</a:t>
            </a:r>
          </a:p>
        </p:txBody>
      </p:sp>
      <p:sp>
        <p:nvSpPr>
          <p:cNvPr id="9" name="Rectangle 8"/>
          <p:cNvSpPr/>
          <p:nvPr/>
        </p:nvSpPr>
        <p:spPr>
          <a:xfrm>
            <a:off x="6496889" y="1473200"/>
            <a:ext cx="4882311" cy="2203450"/>
          </a:xfrm>
          <a:prstGeom prst="rect">
            <a:avLst/>
          </a:prstGeom>
          <a:solidFill>
            <a:srgbClr val="F1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496889" y="1473200"/>
            <a:ext cx="4882311" cy="31750"/>
          </a:xfrm>
          <a:prstGeom prst="rect">
            <a:avLst/>
          </a:prstGeom>
          <a:solidFill>
            <a:srgbClr val="2D5F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674689" y="1638300"/>
            <a:ext cx="4526711" cy="190500"/>
          </a:xfrm>
          <a:prstGeom prst="rect">
            <a:avLst/>
          </a:prstGeom>
          <a:noFill/>
        </p:spPr>
        <p:txBody>
          <a:bodyPr wrap="square" anchor="t" lIns="0" rIns="0" tIns="0" bIns="0">
            <a:spAutoFit/>
          </a:bodyPr>
          <a:lstStyle/>
          <a:p>
            <a:pPr algn="l">
              <a:lnSpc>
                <a:spcPct val="120000"/>
              </a:lnSpc>
            </a:pPr>
            <a:r>
              <a:rPr sz="1200" b="1" i="0" spc="50">
                <a:solidFill>
                  <a:srgbClr val="2D5F8B"/>
                </a:solidFill>
                <a:latin typeface="Helvetica Neue"/>
              </a:rPr>
              <a:t>EXPERIMENT 1 · IS THE FILTER THE PROBLEM?</a:t>
            </a:r>
          </a:p>
        </p:txBody>
      </p:sp>
      <p:sp>
        <p:nvSpPr>
          <p:cNvPr id="12" name="TextBox 11"/>
          <p:cNvSpPr txBox="1"/>
          <p:nvPr/>
        </p:nvSpPr>
        <p:spPr>
          <a:xfrm>
            <a:off x="6674689" y="1879600"/>
            <a:ext cx="4526711" cy="203200"/>
          </a:xfrm>
          <a:prstGeom prst="rect">
            <a:avLst/>
          </a:prstGeom>
          <a:noFill/>
        </p:spPr>
        <p:txBody>
          <a:bodyPr wrap="square" anchor="t" lIns="0" rIns="0" tIns="0" bIns="0">
            <a:spAutoFit/>
          </a:bodyPr>
          <a:lstStyle/>
          <a:p>
            <a:pPr algn="l">
              <a:lnSpc>
                <a:spcPct val="120000"/>
              </a:lnSpc>
            </a:pPr>
            <a:r>
              <a:rPr sz="1300" b="1" i="0">
                <a:solidFill>
                  <a:srgbClr val="14213D"/>
                </a:solidFill>
                <a:latin typeface="Helvetica Neue"/>
              </a:rPr>
              <a:t>Drop BM25, rerank the whole pool</a:t>
            </a:r>
          </a:p>
        </p:txBody>
      </p:sp>
      <p:sp>
        <p:nvSpPr>
          <p:cNvPr id="13" name="TextBox 12"/>
          <p:cNvSpPr txBox="1"/>
          <p:nvPr/>
        </p:nvSpPr>
        <p:spPr>
          <a:xfrm>
            <a:off x="6674689" y="2171700"/>
            <a:ext cx="2716027" cy="228600"/>
          </a:xfrm>
          <a:prstGeom prst="rect">
            <a:avLst/>
          </a:prstGeom>
          <a:noFill/>
        </p:spPr>
        <p:txBody>
          <a:bodyPr wrap="square" anchor="ctr" lIns="0" rIns="0" tIns="0" bIns="0">
            <a:spAutoFit/>
          </a:bodyPr>
          <a:lstStyle/>
          <a:p>
            <a:pPr algn="l">
              <a:lnSpc>
                <a:spcPct val="130000"/>
              </a:lnSpc>
            </a:pPr>
            <a:r>
              <a:rPr sz="1200" b="0" i="0">
                <a:solidFill>
                  <a:srgbClr val="14213D"/>
                </a:solidFill>
                <a:latin typeface="Helvetica Neue"/>
              </a:rPr>
              <a:t>BM25 top-60 → MonoT5 (the paper)</a:t>
            </a:r>
          </a:p>
        </p:txBody>
      </p:sp>
      <p:sp>
        <p:nvSpPr>
          <p:cNvPr id="14" name="TextBox 13"/>
          <p:cNvSpPr txBox="1"/>
          <p:nvPr/>
        </p:nvSpPr>
        <p:spPr>
          <a:xfrm>
            <a:off x="9390715" y="2171700"/>
            <a:ext cx="1810685" cy="228600"/>
          </a:xfrm>
          <a:prstGeom prst="rect">
            <a:avLst/>
          </a:prstGeom>
          <a:noFill/>
        </p:spPr>
        <p:txBody>
          <a:bodyPr wrap="square" anchor="ctr" lIns="0" rIns="0" tIns="0" bIns="0">
            <a:spAutoFit/>
          </a:bodyPr>
          <a:lstStyle/>
          <a:p>
            <a:pPr algn="l">
              <a:lnSpc>
                <a:spcPct val="130000"/>
              </a:lnSpc>
            </a:pPr>
            <a:r>
              <a:rPr sz="1200" b="1" i="0">
                <a:solidFill>
                  <a:srgbClr val="2D5F8B"/>
                </a:solidFill>
                <a:latin typeface="Helvetica Neue"/>
              </a:rPr>
              <a:t>0.529</a:t>
            </a:r>
          </a:p>
        </p:txBody>
      </p:sp>
      <p:sp>
        <p:nvSpPr>
          <p:cNvPr id="15" name="TextBox 14"/>
          <p:cNvSpPr txBox="1"/>
          <p:nvPr/>
        </p:nvSpPr>
        <p:spPr>
          <a:xfrm>
            <a:off x="6674689" y="2400300"/>
            <a:ext cx="2716027" cy="228600"/>
          </a:xfrm>
          <a:prstGeom prst="rect">
            <a:avLst/>
          </a:prstGeom>
          <a:noFill/>
        </p:spPr>
        <p:txBody>
          <a:bodyPr wrap="square" anchor="ctr" lIns="0" rIns="0" tIns="0" bIns="0">
            <a:spAutoFit/>
          </a:bodyPr>
          <a:lstStyle/>
          <a:p>
            <a:pPr algn="l">
              <a:lnSpc>
                <a:spcPct val="130000"/>
              </a:lnSpc>
            </a:pPr>
            <a:r>
              <a:rPr sz="1200" b="0" i="0">
                <a:solidFill>
                  <a:srgbClr val="14213D"/>
                </a:solidFill>
                <a:latin typeface="Helvetica Neue"/>
              </a:rPr>
              <a:t>No BM25 · MonoT5 over all 239</a:t>
            </a:r>
          </a:p>
        </p:txBody>
      </p:sp>
      <p:sp>
        <p:nvSpPr>
          <p:cNvPr id="16" name="TextBox 15"/>
          <p:cNvSpPr txBox="1"/>
          <p:nvPr/>
        </p:nvSpPr>
        <p:spPr>
          <a:xfrm>
            <a:off x="9390715" y="2400300"/>
            <a:ext cx="1810685" cy="228600"/>
          </a:xfrm>
          <a:prstGeom prst="rect">
            <a:avLst/>
          </a:prstGeom>
          <a:noFill/>
        </p:spPr>
        <p:txBody>
          <a:bodyPr wrap="square" anchor="ctr" lIns="0" rIns="0" tIns="0" bIns="0">
            <a:spAutoFit/>
          </a:bodyPr>
          <a:lstStyle/>
          <a:p>
            <a:pPr algn="l">
              <a:lnSpc>
                <a:spcPct val="130000"/>
              </a:lnSpc>
            </a:pPr>
            <a:r>
              <a:rPr sz="1200" b="1" i="0">
                <a:solidFill>
                  <a:srgbClr val="14213D"/>
                </a:solidFill>
                <a:latin typeface="Helvetica Neue"/>
              </a:rPr>
              <a:t>0.541</a:t>
            </a:r>
          </a:p>
        </p:txBody>
      </p:sp>
      <p:sp>
        <p:nvSpPr>
          <p:cNvPr id="17" name="TextBox 16"/>
          <p:cNvSpPr txBox="1"/>
          <p:nvPr/>
        </p:nvSpPr>
        <p:spPr>
          <a:xfrm>
            <a:off x="6674689" y="2705100"/>
            <a:ext cx="4526711" cy="825500"/>
          </a:xfrm>
          <a:prstGeom prst="rect">
            <a:avLst/>
          </a:prstGeom>
          <a:noFill/>
        </p:spPr>
        <p:txBody>
          <a:bodyPr wrap="square" anchor="t" lIns="0" rIns="0" tIns="0" bIns="0">
            <a:spAutoFit/>
          </a:bodyPr>
          <a:lstStyle/>
          <a:p>
            <a:pPr algn="l">
              <a:lnSpc>
                <a:spcPct val="135000"/>
              </a:lnSpc>
            </a:pPr>
            <a:r>
              <a:rPr sz="1200" b="1" i="0">
                <a:solidFill>
                  <a:srgbClr val="14213D"/>
                </a:solidFill>
                <a:latin typeface="Helvetica Neue"/>
              </a:rPr>
              <a:t>Δ +0.012 ±0.014</a:t>
            </a:r>
            <a:r>
              <a:rPr sz="1200" b="0" i="0">
                <a:solidFill>
                  <a:srgbClr val="4A5568"/>
                </a:solidFill>
                <a:latin typeface="Helvetica Neue"/>
              </a:rPr>
              <a:t> — the interval includes zero and it wins on only 10 of 20 articles, at 4.0× the candidates. The depth-60 cut does discard 29% of the gold sentences, yet MonoT5 given all of them recovers none of it. The limit is the reranker, not the filter.</a:t>
            </a:r>
          </a:p>
        </p:txBody>
      </p:sp>
      <p:sp>
        <p:nvSpPr>
          <p:cNvPr id="18" name="Rounded Rectangle 17"/>
          <p:cNvSpPr/>
          <p:nvPr/>
        </p:nvSpPr>
        <p:spPr>
          <a:xfrm>
            <a:off x="812800" y="3803650"/>
            <a:ext cx="10566400" cy="400050"/>
          </a:xfrm>
          <a:prstGeom prst="roundRect">
            <a:avLst>
              <a:gd name="adj" fmla="val 9523"/>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90600" y="3803650"/>
            <a:ext cx="10210800" cy="400050"/>
          </a:xfrm>
          <a:prstGeom prst="rect">
            <a:avLst/>
          </a:prstGeom>
          <a:noFill/>
        </p:spPr>
        <p:txBody>
          <a:bodyPr wrap="square" anchor="ctr" lIns="0" rIns="0" tIns="0" bIns="0">
            <a:spAutoFit/>
          </a:bodyPr>
          <a:lstStyle/>
          <a:p>
            <a:pPr algn="l">
              <a:lnSpc>
                <a:spcPct val="130000"/>
              </a:lnSpc>
            </a:pPr>
            <a:r>
              <a:rPr sz="1200" b="1" i="0">
                <a:solidFill>
                  <a:srgbClr val="E8A96A"/>
                </a:solidFill>
                <a:latin typeface="Helvetica Neue"/>
              </a:rPr>
              <a:t>Downstream: </a:t>
            </a:r>
            <a:r>
              <a:rPr sz="1200" b="0" i="0">
                <a:solidFill>
                  <a:srgbClr val="DCE4E8"/>
                </a:solidFill>
                <a:latin typeface="Helvetica Neue"/>
              </a:rPr>
              <a:t>under the frozen classifier both arms tie (McNemar p = 1.000), and perfect oracle evidence is the worst arm of all.</a:t>
            </a:r>
          </a:p>
        </p:txBody>
      </p:sp>
      <p:sp>
        <p:nvSpPr>
          <p:cNvPr id="20" name="TextBox 19"/>
          <p:cNvSpPr txBox="1"/>
          <p:nvPr/>
        </p:nvSpPr>
        <p:spPr>
          <a:xfrm>
            <a:off x="812800" y="4330700"/>
            <a:ext cx="10566400" cy="254000"/>
          </a:xfrm>
          <a:prstGeom prst="rect">
            <a:avLst/>
          </a:prstGeom>
          <a:noFill/>
        </p:spPr>
        <p:txBody>
          <a:bodyPr wrap="square" anchor="t" lIns="0" rIns="0" tIns="0" bIns="0">
            <a:spAutoFit/>
          </a:bodyPr>
          <a:lstStyle/>
          <a:p>
            <a:pPr algn="l">
              <a:lnSpc>
                <a:spcPct val="120000"/>
              </a:lnSpc>
            </a:pPr>
            <a:r>
              <a:rPr sz="1600" b="1" i="0">
                <a:solidFill>
                  <a:srgbClr val="14213D"/>
                </a:solidFill>
                <a:latin typeface="Georgia"/>
              </a:rPr>
              <a:t>What remains before the final report</a:t>
            </a:r>
          </a:p>
        </p:txBody>
      </p:sp>
      <p:sp>
        <p:nvSpPr>
          <p:cNvPr id="21" name="Rectangle 20"/>
          <p:cNvSpPr/>
          <p:nvPr/>
        </p:nvSpPr>
        <p:spPr>
          <a:xfrm>
            <a:off x="812800" y="4648200"/>
            <a:ext cx="2546350" cy="1111250"/>
          </a:xfrm>
          <a:prstGeom prst="rect">
            <a:avLst/>
          </a:prstGeom>
          <a:solidFill>
            <a:srgbClr val="F1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12800" y="4648200"/>
            <a:ext cx="2546350" cy="31750"/>
          </a:xfrm>
          <a:prstGeom prst="rect">
            <a:avLst/>
          </a:prstGeom>
          <a:solidFill>
            <a:srgbClr val="B453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9800" y="4781550"/>
            <a:ext cx="2292350" cy="863600"/>
          </a:xfrm>
          <a:prstGeom prst="rect">
            <a:avLst/>
          </a:prstGeom>
          <a:noFill/>
        </p:spPr>
        <p:txBody>
          <a:bodyPr wrap="square" anchor="t" lIns="0" rIns="0" tIns="0" bIns="0">
            <a:spAutoFit/>
          </a:bodyPr>
          <a:lstStyle/>
          <a:p>
            <a:pPr algn="l">
              <a:lnSpc>
                <a:spcPct val="120000"/>
              </a:lnSpc>
            </a:pPr>
            <a:r>
              <a:rPr sz="1200" b="1" i="0" spc="50">
                <a:solidFill>
                  <a:srgbClr val="B4530A"/>
                </a:solidFill>
                <a:latin typeface="Helvetica Neue"/>
              </a:rPr>
              <a:t>DECISIVE</a:t>
            </a:r>
          </a:p>
          <a:p>
            <a:pPr algn="l">
              <a:lnSpc>
                <a:spcPct val="120000"/>
              </a:lnSpc>
              <a:spcBef>
                <a:spcPts val="300"/>
              </a:spcBef>
            </a:pPr>
            <a:r>
              <a:rPr sz="1300" b="1" i="0">
                <a:solidFill>
                  <a:srgbClr val="14213D"/>
                </a:solidFill>
                <a:latin typeface="Helvetica Neue"/>
              </a:rPr>
              <a:t>Retrain MultiVerS per arm</a:t>
            </a:r>
          </a:p>
          <a:p>
            <a:pPr algn="l">
              <a:lnSpc>
                <a:spcPct val="130000"/>
              </a:lnSpc>
              <a:spcBef>
                <a:spcPts val="300"/>
              </a:spcBef>
            </a:pPr>
            <a:r>
              <a:rPr sz="1200" b="0" i="0">
                <a:solidFill>
                  <a:srgbClr val="4A5568"/>
                </a:solidFill>
                <a:latin typeface="Helvetica Neue"/>
              </a:rPr>
              <a:t>Both arms share one frozen checkpoint today.</a:t>
            </a:r>
          </a:p>
        </p:txBody>
      </p:sp>
      <p:sp>
        <p:nvSpPr>
          <p:cNvPr id="24" name="Rectangle 23"/>
          <p:cNvSpPr/>
          <p:nvPr/>
        </p:nvSpPr>
        <p:spPr>
          <a:xfrm>
            <a:off x="3486150" y="4648200"/>
            <a:ext cx="2546350" cy="1111250"/>
          </a:xfrm>
          <a:prstGeom prst="rect">
            <a:avLst/>
          </a:prstGeom>
          <a:solidFill>
            <a:srgbClr val="F1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3486150" y="4648200"/>
            <a:ext cx="2546350" cy="31750"/>
          </a:xfrm>
          <a:prstGeom prst="rect">
            <a:avLst/>
          </a:prstGeom>
          <a:solidFill>
            <a:srgbClr val="6A71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613150" y="4781550"/>
            <a:ext cx="2292350" cy="863600"/>
          </a:xfrm>
          <a:prstGeom prst="rect">
            <a:avLst/>
          </a:prstGeom>
          <a:noFill/>
        </p:spPr>
        <p:txBody>
          <a:bodyPr wrap="square" anchor="t" lIns="0" rIns="0" tIns="0" bIns="0">
            <a:spAutoFit/>
          </a:bodyPr>
          <a:lstStyle/>
          <a:p>
            <a:pPr algn="l">
              <a:lnSpc>
                <a:spcPct val="120000"/>
              </a:lnSpc>
            </a:pPr>
            <a:r>
              <a:rPr sz="1200" b="1" i="0" spc="50">
                <a:solidFill>
                  <a:srgbClr val="6A7179"/>
                </a:solidFill>
                <a:latin typeface="Helvetica Neue"/>
              </a:rPr>
              <a:t>HEADROOM</a:t>
            </a:r>
          </a:p>
          <a:p>
            <a:pPr algn="l">
              <a:lnSpc>
                <a:spcPct val="120000"/>
              </a:lnSpc>
              <a:spcBef>
                <a:spcPts val="300"/>
              </a:spcBef>
            </a:pPr>
            <a:r>
              <a:rPr sz="1300" b="1" i="0">
                <a:solidFill>
                  <a:srgbClr val="14213D"/>
                </a:solidFill>
                <a:latin typeface="Helvetica Neue"/>
              </a:rPr>
              <a:t>Finish the length sweep</a:t>
            </a:r>
          </a:p>
          <a:p>
            <a:pPr algn="l">
              <a:lnSpc>
                <a:spcPct val="130000"/>
              </a:lnSpc>
              <a:spcBef>
                <a:spcPts val="300"/>
              </a:spcBef>
            </a:pPr>
            <a:r>
              <a:rPr sz="1200" b="0" i="0">
                <a:solidFill>
                  <a:srgbClr val="4A5568"/>
                </a:solidFill>
                <a:latin typeface="Helvetica Neue"/>
              </a:rPr>
              <a:t>A quarter of inputs truncate at 192 tokens.</a:t>
            </a:r>
          </a:p>
        </p:txBody>
      </p:sp>
      <p:sp>
        <p:nvSpPr>
          <p:cNvPr id="27" name="Rectangle 26"/>
          <p:cNvSpPr/>
          <p:nvPr/>
        </p:nvSpPr>
        <p:spPr>
          <a:xfrm>
            <a:off x="6159500" y="4648200"/>
            <a:ext cx="2546350" cy="1111250"/>
          </a:xfrm>
          <a:prstGeom prst="rect">
            <a:avLst/>
          </a:prstGeom>
          <a:solidFill>
            <a:srgbClr val="F1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159500" y="4648200"/>
            <a:ext cx="2546350" cy="31750"/>
          </a:xfrm>
          <a:prstGeom prst="rect">
            <a:avLst/>
          </a:prstGeom>
          <a:solidFill>
            <a:srgbClr val="6A71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286500" y="4781550"/>
            <a:ext cx="2292350" cy="863600"/>
          </a:xfrm>
          <a:prstGeom prst="rect">
            <a:avLst/>
          </a:prstGeom>
          <a:noFill/>
        </p:spPr>
        <p:txBody>
          <a:bodyPr wrap="square" anchor="t" lIns="0" rIns="0" tIns="0" bIns="0">
            <a:spAutoFit/>
          </a:bodyPr>
          <a:lstStyle/>
          <a:p>
            <a:pPr algn="l">
              <a:lnSpc>
                <a:spcPct val="120000"/>
              </a:lnSpc>
            </a:pPr>
            <a:r>
              <a:rPr sz="1200" b="1" i="0" spc="50">
                <a:solidFill>
                  <a:srgbClr val="6A7179"/>
                </a:solidFill>
                <a:latin typeface="Helvetica Neue"/>
              </a:rPr>
              <a:t>COST</a:t>
            </a:r>
          </a:p>
          <a:p>
            <a:pPr algn="l">
              <a:lnSpc>
                <a:spcPct val="120000"/>
              </a:lnSpc>
              <a:spcBef>
                <a:spcPts val="300"/>
              </a:spcBef>
            </a:pPr>
            <a:r>
              <a:rPr sz="1300" b="1" i="0">
                <a:solidFill>
                  <a:srgbClr val="14213D"/>
                </a:solidFill>
                <a:latin typeface="Helvetica Neue"/>
              </a:rPr>
              <a:t>Report FLOPs, not seconds</a:t>
            </a:r>
          </a:p>
          <a:p>
            <a:pPr algn="l">
              <a:lnSpc>
                <a:spcPct val="130000"/>
              </a:lnSpc>
              <a:spcBef>
                <a:spcPts val="300"/>
              </a:spcBef>
            </a:pPr>
            <a:r>
              <a:rPr sz="1200" b="0" i="0">
                <a:solidFill>
                  <a:srgbClr val="4A5568"/>
                </a:solidFill>
                <a:latin typeface="Helvetica Neue"/>
              </a:rPr>
              <a:t>Dynamic padding cuts 1.36× to 1.06× free.</a:t>
            </a:r>
          </a:p>
        </p:txBody>
      </p:sp>
      <p:sp>
        <p:nvSpPr>
          <p:cNvPr id="30" name="Rectangle 29"/>
          <p:cNvSpPr/>
          <p:nvPr/>
        </p:nvSpPr>
        <p:spPr>
          <a:xfrm>
            <a:off x="8832850" y="4648200"/>
            <a:ext cx="2546350" cy="1111250"/>
          </a:xfrm>
          <a:prstGeom prst="rect">
            <a:avLst/>
          </a:prstGeom>
          <a:solidFill>
            <a:srgbClr val="F1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832850" y="4648200"/>
            <a:ext cx="2546350" cy="31750"/>
          </a:xfrm>
          <a:prstGeom prst="rect">
            <a:avLst/>
          </a:prstGeom>
          <a:solidFill>
            <a:srgbClr val="6A71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959850" y="4781550"/>
            <a:ext cx="2292350" cy="863600"/>
          </a:xfrm>
          <a:prstGeom prst="rect">
            <a:avLst/>
          </a:prstGeom>
          <a:noFill/>
        </p:spPr>
        <p:txBody>
          <a:bodyPr wrap="square" anchor="t" lIns="0" rIns="0" tIns="0" bIns="0">
            <a:spAutoFit/>
          </a:bodyPr>
          <a:lstStyle/>
          <a:p>
            <a:pPr algn="l">
              <a:lnSpc>
                <a:spcPct val="120000"/>
              </a:lnSpc>
            </a:pPr>
            <a:r>
              <a:rPr sz="1200" b="1" i="0" spc="50">
                <a:solidFill>
                  <a:srgbClr val="6A7179"/>
                </a:solidFill>
                <a:latin typeface="Helvetica Neue"/>
              </a:rPr>
              <a:t>HYGIENE</a:t>
            </a:r>
          </a:p>
          <a:p>
            <a:pPr algn="l">
              <a:lnSpc>
                <a:spcPct val="120000"/>
              </a:lnSpc>
              <a:spcBef>
                <a:spcPts val="300"/>
              </a:spcBef>
            </a:pPr>
            <a:r>
              <a:rPr sz="1300" b="1" i="0">
                <a:solidFill>
                  <a:srgbClr val="14213D"/>
                </a:solidFill>
                <a:latin typeface="Helvetica Neue"/>
              </a:rPr>
              <a:t>Rerun both arms together</a:t>
            </a:r>
          </a:p>
          <a:p>
            <a:pPr algn="l">
              <a:lnSpc>
                <a:spcPct val="130000"/>
              </a:lnSpc>
              <a:spcBef>
                <a:spcPts val="300"/>
              </a:spcBef>
            </a:pPr>
            <a:r>
              <a:rPr sz="1200" b="0" i="0">
                <a:solidFill>
                  <a:srgbClr val="4A5568"/>
                </a:solidFill>
                <a:latin typeface="Helvetica Neue"/>
              </a:rPr>
              <a:t>Cross-date numbers drifted 0.012 on dev.</a:t>
            </a:r>
          </a:p>
        </p:txBody>
      </p:sp>
      <p:sp>
        <p:nvSpPr>
          <p:cNvPr id="33" name="TextBox 32"/>
          <p:cNvSpPr txBox="1"/>
          <p:nvPr/>
        </p:nvSpPr>
        <p:spPr>
          <a:xfrm>
            <a:off x="812800" y="6038850"/>
            <a:ext cx="10566400" cy="412750"/>
          </a:xfrm>
          <a:prstGeom prst="rect">
            <a:avLst/>
          </a:prstGeom>
          <a:noFill/>
        </p:spPr>
        <p:txBody>
          <a:bodyPr wrap="square" anchor="t" lIns="0" rIns="0" tIns="0" bIns="0">
            <a:spAutoFit/>
          </a:bodyPr>
          <a:lstStyle/>
          <a:p>
            <a:pPr algn="l">
              <a:lnSpc>
                <a:spcPct val="135000"/>
              </a:lnSpc>
            </a:pPr>
            <a:r>
              <a:rPr sz="1200" b="0" i="0">
                <a:solidFill>
                  <a:srgbClr val="6A7179"/>
                </a:solidFill>
                <a:latin typeface="Helvetica Neue"/>
              </a:rPr>
              <a:t>Pooled (micro) metrics, the paper’s definitions; intervals from a paired bootstrap resampling articles. The classification arms share one frozen checkpoint, so only the arm-to-arm comparison carries weight — absolute F1 is not comparable to the paper’s.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